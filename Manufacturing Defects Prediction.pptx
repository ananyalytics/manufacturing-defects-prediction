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0"/>
  </p:notesMasterIdLst>
  <p:handoutMasterIdLst>
    <p:handoutMasterId r:id="rId21"/>
  </p:handoutMasterIdLst>
  <p:sldIdLst>
    <p:sldId id="1497" r:id="rId5"/>
    <p:sldId id="1514" r:id="rId6"/>
    <p:sldId id="1522" r:id="rId7"/>
    <p:sldId id="1516" r:id="rId8"/>
    <p:sldId id="1519" r:id="rId9"/>
    <p:sldId id="1520" r:id="rId10"/>
    <p:sldId id="1521" r:id="rId11"/>
    <p:sldId id="1515" r:id="rId12"/>
    <p:sldId id="1523" r:id="rId13"/>
    <p:sldId id="1524" r:id="rId14"/>
    <p:sldId id="1525" r:id="rId15"/>
    <p:sldId id="1526" r:id="rId16"/>
    <p:sldId id="1527" r:id="rId17"/>
    <p:sldId id="1528" r:id="rId18"/>
    <p:sldId id="15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79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bieelkharoua/predicting-manufacturing-defects-dataset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guvi.in/" TargetMode="External"/><Relationship Id="rId4" Type="http://schemas.openxmlformats.org/officeDocument/2006/relationships/hyperlink" Target="https://docs.python.org/3/library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4500" dirty="0"/>
              <a:t>Manufacturing quality prediction</a:t>
            </a:r>
            <a:endParaRPr lang="en-US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Presented by Ananya Jha, Devraj Sharma, Habibulla, Ayush Babu &amp; Muddassir Ahmed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ECB2A9-34B8-2099-E5D8-F0BC8ECC8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5" y="1185598"/>
            <a:ext cx="6656631" cy="576941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6B3D2C-0AB0-01F6-D9E5-DEDE8E91DB76}"/>
              </a:ext>
            </a:extLst>
          </p:cNvPr>
          <p:cNvSpPr txBox="1">
            <a:spLocks/>
          </p:cNvSpPr>
          <p:nvPr/>
        </p:nvSpPr>
        <p:spPr>
          <a:xfrm>
            <a:off x="859535" y="2014802"/>
            <a:ext cx="10414716" cy="365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000" cap="none" dirty="0">
                <a:latin typeface="+mn-lt"/>
              </a:rPr>
              <a:t>In modern manufacturing, undetected defects on the shop floor lead to significant material waste, costly rework, and supply chain delays. The objective of this project is to build an automated, production-ready </a:t>
            </a:r>
            <a:r>
              <a:rPr lang="en-US" sz="2000" cap="none" dirty="0" err="1">
                <a:latin typeface="+mn-lt"/>
              </a:rPr>
              <a:t>DataOps</a:t>
            </a:r>
            <a:r>
              <a:rPr lang="en-US" sz="2000" cap="none" dirty="0">
                <a:latin typeface="+mn-lt"/>
              </a:rPr>
              <a:t> and </a:t>
            </a:r>
            <a:r>
              <a:rPr lang="en-US" sz="2000" cap="none" dirty="0" err="1">
                <a:latin typeface="+mn-lt"/>
              </a:rPr>
              <a:t>MLOps</a:t>
            </a:r>
            <a:r>
              <a:rPr lang="en-US" sz="2000" cap="none" dirty="0">
                <a:latin typeface="+mn-lt"/>
              </a:rPr>
              <a:t> pipeline that predicts product quality in real time. Using the </a:t>
            </a:r>
            <a:r>
              <a:rPr lang="en-US" sz="2000" b="1" cap="none" dirty="0">
                <a:latin typeface="+mn-lt"/>
              </a:rPr>
              <a:t>manufacturing_defects.csv </a:t>
            </a:r>
            <a:r>
              <a:rPr lang="en-US" sz="2000" cap="none" dirty="0">
                <a:latin typeface="+mn-lt"/>
              </a:rPr>
              <a:t>dataset, the system continuously analyzes 16 numerical sensor and process features to predict the </a:t>
            </a:r>
            <a:r>
              <a:rPr lang="en-US" sz="2000" b="1" cap="none" dirty="0" err="1">
                <a:latin typeface="+mn-lt"/>
              </a:rPr>
              <a:t>DefectStatus</a:t>
            </a:r>
            <a:r>
              <a:rPr lang="en-US" sz="2000" cap="none" dirty="0">
                <a:latin typeface="+mn-lt"/>
              </a:rPr>
              <a:t> of a manufactured unit. By automating the data ingestion, model training, and real-time API serving, this architecture allows quality control teams to proactively identify and isolate defective components before they advance further down the assembly line.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67954D-7EAE-888D-7A92-39ADB7001C5C}"/>
              </a:ext>
            </a:extLst>
          </p:cNvPr>
          <p:cNvSpPr txBox="1">
            <a:spLocks/>
          </p:cNvSpPr>
          <p:nvPr/>
        </p:nvSpPr>
        <p:spPr>
          <a:xfrm>
            <a:off x="10363201" y="600011"/>
            <a:ext cx="940158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E2DC-8F76-6A84-CB45-5209FF2B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EFE2-8CF1-B073-E5ED-C9C0BC7F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460" y="1079581"/>
            <a:ext cx="10491080" cy="894994"/>
          </a:xfrm>
        </p:spPr>
        <p:txBody>
          <a:bodyPr anchor="ctr">
            <a:normAutofit/>
          </a:bodyPr>
          <a:lstStyle/>
          <a:p>
            <a:pPr algn="ctr"/>
            <a:r>
              <a:rPr lang="en-US" sz="4500" dirty="0"/>
              <a:t>Dataset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89829-FBF2-E5F0-BC20-09062F73A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61" y="2142919"/>
            <a:ext cx="10491079" cy="1474157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dataset provides insights into factors influencing defect rates in a manufacturing environment. Each record represents various metrics crucial for predicting high or low defect occurrences in production processes.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F2613ED-0A16-68BB-3D04-9B3ADBD67C0C}"/>
              </a:ext>
            </a:extLst>
          </p:cNvPr>
          <p:cNvSpPr txBox="1">
            <a:spLocks/>
          </p:cNvSpPr>
          <p:nvPr/>
        </p:nvSpPr>
        <p:spPr>
          <a:xfrm>
            <a:off x="850460" y="3946669"/>
            <a:ext cx="10491079" cy="18317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It includes production volumes, supply chain quality, quality control assessments, maintenance schedules, inventory management details, workforce productivity metrics, energy consumption patterns, additive manufacturing specifics, and more.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BCE0B8-4256-608F-4BAA-DE6751820D04}"/>
              </a:ext>
            </a:extLst>
          </p:cNvPr>
          <p:cNvSpPr txBox="1">
            <a:spLocks/>
          </p:cNvSpPr>
          <p:nvPr/>
        </p:nvSpPr>
        <p:spPr>
          <a:xfrm>
            <a:off x="10360617" y="600011"/>
            <a:ext cx="942741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66059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1281166"/>
            <a:ext cx="9264676" cy="1133856"/>
          </a:xfrm>
        </p:spPr>
        <p:txBody>
          <a:bodyPr/>
          <a:lstStyle/>
          <a:p>
            <a:r>
              <a:rPr lang="en-US" sz="4500" dirty="0"/>
              <a:t>ARCHITECTURE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90EB3C-E0D7-8CBE-CCFD-EB88CBE0C143}"/>
              </a:ext>
            </a:extLst>
          </p:cNvPr>
          <p:cNvSpPr txBox="1">
            <a:spLocks/>
          </p:cNvSpPr>
          <p:nvPr/>
        </p:nvSpPr>
        <p:spPr>
          <a:xfrm>
            <a:off x="888642" y="2835243"/>
            <a:ext cx="10414716" cy="19493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GB" sz="2500" dirty="0">
                <a:latin typeface="+mn-lt"/>
              </a:rPr>
              <a:t>DATA SOURCE → DATA INGESTION → DATA VALIDATION / QUALITY → TRANSFORMATION / FEATURE ENGINEERING → MODEL TRAINING → MLFLOW → MODEL VALIDATION → INFERENCE / DEPLOYMENT → MONITORING</a:t>
            </a:r>
            <a:endParaRPr lang="en-US" sz="2500" cap="none" dirty="0"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D2924A-79BA-8214-4613-E4141021B3B2}"/>
              </a:ext>
            </a:extLst>
          </p:cNvPr>
          <p:cNvSpPr txBox="1">
            <a:spLocks/>
          </p:cNvSpPr>
          <p:nvPr/>
        </p:nvSpPr>
        <p:spPr>
          <a:xfrm>
            <a:off x="10337369" y="600011"/>
            <a:ext cx="965989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70C1-133F-BB9A-3E8E-0BA76EB3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60BDAB-1565-9B54-0FDD-E4E2FDF4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BA582-A103-3F0F-78AC-62FC7BABFB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9839696" cy="1133856"/>
          </a:xfrm>
        </p:spPr>
        <p:txBody>
          <a:bodyPr/>
          <a:lstStyle/>
          <a:p>
            <a:pPr algn="l"/>
            <a:r>
              <a:rPr lang="en-US" sz="4500" dirty="0"/>
              <a:t>Data Ingestion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4C3EA0-2734-E12B-E1CA-9F456BDFC28C}"/>
              </a:ext>
            </a:extLst>
          </p:cNvPr>
          <p:cNvSpPr txBox="1">
            <a:spLocks/>
          </p:cNvSpPr>
          <p:nvPr/>
        </p:nvSpPr>
        <p:spPr>
          <a:xfrm>
            <a:off x="888642" y="2623208"/>
            <a:ext cx="10414716" cy="19493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500" cap="none" dirty="0">
                <a:latin typeface="+mn-lt"/>
              </a:rPr>
              <a:t>Loading the CSV from the shared directory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500" cap="none" dirty="0">
                <a:latin typeface="+mn-lt"/>
              </a:rPr>
              <a:t>Checking the shape of the data (rows, columns)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Quality Check: Looking for missing values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Preview the data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7602E9-A1FE-55AE-C0F5-CBB30175E21E}"/>
              </a:ext>
            </a:extLst>
          </p:cNvPr>
          <p:cNvSpPr txBox="1">
            <a:spLocks/>
          </p:cNvSpPr>
          <p:nvPr/>
        </p:nvSpPr>
        <p:spPr>
          <a:xfrm>
            <a:off x="7646504" y="5250265"/>
            <a:ext cx="3656854" cy="708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cap="none" dirty="0">
                <a:latin typeface="+mn-lt"/>
              </a:rPr>
              <a:t>Python library used - Pandas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BB0179-58CB-34E9-CF62-D2507BA89A15}"/>
              </a:ext>
            </a:extLst>
          </p:cNvPr>
          <p:cNvSpPr txBox="1">
            <a:spLocks/>
          </p:cNvSpPr>
          <p:nvPr/>
        </p:nvSpPr>
        <p:spPr>
          <a:xfrm>
            <a:off x="10321871" y="600011"/>
            <a:ext cx="981487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260026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6C96-453C-5390-F431-5E4AE29D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1AEDB9-B174-436E-DE41-CA36F873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601DD-A46A-156D-0DA9-4F8A87312C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10376766" cy="1133856"/>
          </a:xfrm>
        </p:spPr>
        <p:txBody>
          <a:bodyPr/>
          <a:lstStyle/>
          <a:p>
            <a:pPr algn="l"/>
            <a:r>
              <a:rPr lang="en-US" sz="4500" dirty="0"/>
              <a:t>Feature Engineering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A468950-A726-56BE-1452-864A858F9604}"/>
              </a:ext>
            </a:extLst>
          </p:cNvPr>
          <p:cNvSpPr txBox="1">
            <a:spLocks/>
          </p:cNvSpPr>
          <p:nvPr/>
        </p:nvSpPr>
        <p:spPr>
          <a:xfrm>
            <a:off x="869667" y="2835243"/>
            <a:ext cx="10414716" cy="1355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Separate features (X) and target (Y)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Split into training and testing sets (80% train, 20% test)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Scale the numerical features</a:t>
            </a:r>
            <a:endParaRPr lang="en-US" sz="2500" cap="none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6479E8-CA6E-7C0D-AA1D-94C087B0AE4F}"/>
              </a:ext>
            </a:extLst>
          </p:cNvPr>
          <p:cNvSpPr txBox="1">
            <a:spLocks/>
          </p:cNvSpPr>
          <p:nvPr/>
        </p:nvSpPr>
        <p:spPr>
          <a:xfrm>
            <a:off x="6096000" y="5250265"/>
            <a:ext cx="5207358" cy="708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cap="none" dirty="0">
                <a:latin typeface="+mn-lt"/>
              </a:rPr>
              <a:t>Python library used – Scikit-learn (</a:t>
            </a:r>
            <a:r>
              <a:rPr lang="en-US" sz="1800" cap="none" dirty="0" err="1">
                <a:latin typeface="+mn-lt"/>
              </a:rPr>
              <a:t>sklearn</a:t>
            </a:r>
            <a:r>
              <a:rPr lang="en-US" sz="1800" cap="none" dirty="0">
                <a:latin typeface="+mn-lt"/>
              </a:rPr>
              <a:t>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963FB-963A-E2A2-1B7B-543D76997924}"/>
              </a:ext>
            </a:extLst>
          </p:cNvPr>
          <p:cNvSpPr txBox="1">
            <a:spLocks/>
          </p:cNvSpPr>
          <p:nvPr/>
        </p:nvSpPr>
        <p:spPr>
          <a:xfrm>
            <a:off x="10345119" y="600011"/>
            <a:ext cx="958239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207277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3257-0CC1-5D6E-FEC9-F9D7D138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D1CD52-1EAA-0F76-9994-DE5DDA39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BCD72-733C-63AB-9E0F-CFC9EBCFCA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10376766" cy="1133856"/>
          </a:xfrm>
        </p:spPr>
        <p:txBody>
          <a:bodyPr/>
          <a:lstStyle/>
          <a:p>
            <a:pPr algn="l"/>
            <a:r>
              <a:rPr lang="en-US" sz="4500" dirty="0"/>
              <a:t>Model Training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2D6E46-B26D-9783-C12F-BC9B099843E8}"/>
              </a:ext>
            </a:extLst>
          </p:cNvPr>
          <p:cNvSpPr txBox="1">
            <a:spLocks/>
          </p:cNvSpPr>
          <p:nvPr/>
        </p:nvSpPr>
        <p:spPr>
          <a:xfrm>
            <a:off x="850692" y="2835243"/>
            <a:ext cx="10414716" cy="1355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Initialize and train the model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Make predictions on the test set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Evaluate the model</a:t>
            </a:r>
            <a:endParaRPr lang="en-US" sz="2500" cap="none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56D3BA-4024-0917-A1F0-7811692A4C52}"/>
              </a:ext>
            </a:extLst>
          </p:cNvPr>
          <p:cNvSpPr txBox="1">
            <a:spLocks/>
          </p:cNvSpPr>
          <p:nvPr/>
        </p:nvSpPr>
        <p:spPr>
          <a:xfrm>
            <a:off x="6096000" y="5250265"/>
            <a:ext cx="5207358" cy="708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cap="none" dirty="0">
                <a:latin typeface="+mn-lt"/>
              </a:rPr>
              <a:t>Python library used – Scikit-learn (</a:t>
            </a:r>
            <a:r>
              <a:rPr lang="en-US" sz="1800" cap="none" dirty="0" err="1">
                <a:latin typeface="+mn-lt"/>
              </a:rPr>
              <a:t>sklearn</a:t>
            </a:r>
            <a:r>
              <a:rPr lang="en-US" sz="1800" cap="none" dirty="0">
                <a:latin typeface="+mn-lt"/>
              </a:rPr>
              <a:t>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D7CBD7-032C-7B7E-315B-29B014CF783B}"/>
              </a:ext>
            </a:extLst>
          </p:cNvPr>
          <p:cNvSpPr txBox="1">
            <a:spLocks/>
          </p:cNvSpPr>
          <p:nvPr/>
        </p:nvSpPr>
        <p:spPr>
          <a:xfrm>
            <a:off x="10345119" y="600011"/>
            <a:ext cx="958239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2068319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/>
          <a:lstStyle/>
          <a:p>
            <a:r>
              <a:rPr lang="en-US" dirty="0"/>
              <a:t>Baseline 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2960" y="1353387"/>
            <a:ext cx="10543032" cy="3273331"/>
          </a:xfrm>
        </p:spPr>
        <p:txBody>
          <a:bodyPr/>
          <a:lstStyle/>
          <a:p>
            <a:r>
              <a:rPr lang="en-US" dirty="0"/>
              <a:t>95.52%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FA76-CB8C-6633-464B-9DEA121C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F1281F-8047-F9CB-6209-5DCBBA5E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9EE5D-822E-F508-1E31-A38BE21717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10376766" cy="1133856"/>
          </a:xfrm>
        </p:spPr>
        <p:txBody>
          <a:bodyPr/>
          <a:lstStyle/>
          <a:p>
            <a:pPr algn="l"/>
            <a:r>
              <a:rPr lang="en-US" sz="4500" cap="none" dirty="0" err="1"/>
              <a:t>MLflow</a:t>
            </a:r>
            <a:endParaRPr lang="en-US" sz="45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C37E89-965D-A9F2-2348-7A137E777A73}"/>
              </a:ext>
            </a:extLst>
          </p:cNvPr>
          <p:cNvSpPr txBox="1">
            <a:spLocks/>
          </p:cNvSpPr>
          <p:nvPr/>
        </p:nvSpPr>
        <p:spPr>
          <a:xfrm>
            <a:off x="850692" y="2835243"/>
            <a:ext cx="10414716" cy="1355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Connect to the </a:t>
            </a:r>
            <a:r>
              <a:rPr lang="en-US" sz="2500" cap="none" dirty="0" err="1">
                <a:latin typeface="+mn-lt"/>
              </a:rPr>
              <a:t>MLflow</a:t>
            </a:r>
            <a:r>
              <a:rPr lang="en-US" sz="2500" cap="none" dirty="0">
                <a:latin typeface="+mn-lt"/>
              </a:rPr>
              <a:t> tracking server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Create or set the experiment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Start the tracking run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17599C-0387-5294-5BCF-84FC3166B5DD}"/>
              </a:ext>
            </a:extLst>
          </p:cNvPr>
          <p:cNvSpPr txBox="1">
            <a:spLocks/>
          </p:cNvSpPr>
          <p:nvPr/>
        </p:nvSpPr>
        <p:spPr>
          <a:xfrm>
            <a:off x="4996070" y="5250265"/>
            <a:ext cx="6307288" cy="708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cap="none" dirty="0">
                <a:latin typeface="+mn-lt"/>
              </a:rPr>
              <a:t>Python library used – Scikit-learn (</a:t>
            </a:r>
            <a:r>
              <a:rPr lang="en-US" sz="1800" cap="none" dirty="0" err="1">
                <a:latin typeface="+mn-lt"/>
              </a:rPr>
              <a:t>sklearn</a:t>
            </a:r>
            <a:r>
              <a:rPr lang="en-US" sz="1800" cap="none" dirty="0">
                <a:latin typeface="+mn-lt"/>
              </a:rPr>
              <a:t>) + </a:t>
            </a:r>
            <a:r>
              <a:rPr lang="en-US" sz="1800" cap="none" dirty="0" err="1">
                <a:latin typeface="+mn-lt"/>
              </a:rPr>
              <a:t>mlflow</a:t>
            </a:r>
            <a:endParaRPr lang="en-US" sz="1800" cap="none" dirty="0"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E2F31C-F1CA-AEE0-A32A-78CEE69FBAF5}"/>
              </a:ext>
            </a:extLst>
          </p:cNvPr>
          <p:cNvSpPr txBox="1">
            <a:spLocks/>
          </p:cNvSpPr>
          <p:nvPr/>
        </p:nvSpPr>
        <p:spPr>
          <a:xfrm>
            <a:off x="10345119" y="600011"/>
            <a:ext cx="958239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523804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E34D-E87F-2842-FD98-EABE7C74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97EAA7-8223-21C2-FF46-73E426D3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214BA-1343-192A-C5E4-9D443C8501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10376766" cy="1133856"/>
          </a:xfrm>
        </p:spPr>
        <p:txBody>
          <a:bodyPr/>
          <a:lstStyle/>
          <a:p>
            <a:pPr algn="l"/>
            <a:r>
              <a:rPr lang="en-US" sz="4500" cap="none" dirty="0"/>
              <a:t>Model Validation</a:t>
            </a:r>
            <a:endParaRPr lang="en-US" sz="45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D6DE8D-E239-5CA2-6F23-4E2B63D06C75}"/>
              </a:ext>
            </a:extLst>
          </p:cNvPr>
          <p:cNvSpPr txBox="1">
            <a:spLocks/>
          </p:cNvSpPr>
          <p:nvPr/>
        </p:nvSpPr>
        <p:spPr>
          <a:xfrm>
            <a:off x="850692" y="2835243"/>
            <a:ext cx="10414716" cy="1355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Connect to the </a:t>
            </a:r>
            <a:r>
              <a:rPr lang="en-US" sz="2500" cap="none" dirty="0" err="1">
                <a:latin typeface="+mn-lt"/>
              </a:rPr>
              <a:t>Mlflow</a:t>
            </a:r>
            <a:endParaRPr lang="en-US" sz="2500" cap="none" dirty="0">
              <a:latin typeface="+mn-lt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Fetch the latest run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500" cap="none" dirty="0">
                <a:latin typeface="+mn-lt"/>
              </a:rPr>
              <a:t>Validate &amp; register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F1BF99-6230-25A4-30F2-12BBCA2441E7}"/>
              </a:ext>
            </a:extLst>
          </p:cNvPr>
          <p:cNvSpPr txBox="1">
            <a:spLocks/>
          </p:cNvSpPr>
          <p:nvPr/>
        </p:nvSpPr>
        <p:spPr>
          <a:xfrm>
            <a:off x="7765774" y="5250265"/>
            <a:ext cx="3537584" cy="708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cap="none" dirty="0">
                <a:latin typeface="+mn-lt"/>
              </a:rPr>
              <a:t>Python library used – </a:t>
            </a:r>
            <a:r>
              <a:rPr lang="en-US" sz="1800" cap="none" dirty="0" err="1">
                <a:latin typeface="+mn-lt"/>
              </a:rPr>
              <a:t>mlflow</a:t>
            </a:r>
            <a:endParaRPr lang="en-US" sz="1800" cap="none" dirty="0"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FBAD1B-A4A3-EFC7-2B68-EFF0796F57DD}"/>
              </a:ext>
            </a:extLst>
          </p:cNvPr>
          <p:cNvSpPr txBox="1">
            <a:spLocks/>
          </p:cNvSpPr>
          <p:nvPr/>
        </p:nvSpPr>
        <p:spPr>
          <a:xfrm>
            <a:off x="10378273" y="600011"/>
            <a:ext cx="925085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70445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44C1-02D3-0BB5-FD31-C74716BE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3E15C3-67C3-22A6-D009-4F63A82F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3A57C-ADDD-04F6-EC0D-EAE89D4970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502272"/>
            <a:ext cx="9264676" cy="1133856"/>
          </a:xfrm>
        </p:spPr>
        <p:txBody>
          <a:bodyPr/>
          <a:lstStyle/>
          <a:p>
            <a:r>
              <a:rPr lang="en-US" sz="4500" dirty="0"/>
              <a:t>Airflow </a:t>
            </a:r>
            <a:r>
              <a:rPr lang="en-US" sz="4500" dirty="0" err="1"/>
              <a:t>dag</a:t>
            </a:r>
            <a:endParaRPr lang="en-US" sz="4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3A6DF-111C-74E1-54FB-40EBA3B02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65" y="1636128"/>
            <a:ext cx="9872870" cy="440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95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179B-1B80-0108-0DF1-DE8D9A52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5C716-35D4-5845-B0B4-21046C7D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7E9C3-331C-A32A-8A0B-7A9A51D97C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502272"/>
            <a:ext cx="9264676" cy="1133856"/>
          </a:xfrm>
        </p:spPr>
        <p:txBody>
          <a:bodyPr/>
          <a:lstStyle/>
          <a:p>
            <a:r>
              <a:rPr lang="en-US" sz="4500" dirty="0"/>
              <a:t>Inference / Deployment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0D9494-87B9-45A5-164A-5FB5F992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1" y="1636128"/>
            <a:ext cx="10230678" cy="435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25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AF39-6DB1-5A08-3C7A-80A97CCB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75CDC-64EA-1C24-D743-39C9FDD90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AEFA8-C4F5-6272-FE98-684EA121AF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502272"/>
            <a:ext cx="9264676" cy="1133856"/>
          </a:xfrm>
        </p:spPr>
        <p:txBody>
          <a:bodyPr/>
          <a:lstStyle/>
          <a:p>
            <a:r>
              <a:rPr lang="en-US" sz="4500" dirty="0"/>
              <a:t>Grafana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BB776-9D9F-B3E5-996E-CCD20480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76" y="1636128"/>
            <a:ext cx="8994247" cy="474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47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1A91-B5BE-BC9B-13A2-BC981A97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6828A1-B085-140C-037D-1EA2D960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82F3F-8A54-8DF8-A9E9-B567990AF5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8642" y="1281166"/>
            <a:ext cx="9839696" cy="1133856"/>
          </a:xfrm>
        </p:spPr>
        <p:txBody>
          <a:bodyPr/>
          <a:lstStyle/>
          <a:p>
            <a:pPr algn="l"/>
            <a:r>
              <a:rPr lang="en-US" sz="4500" dirty="0"/>
              <a:t>Individual contribution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1CCE9B-55D8-7AFE-FEF7-28361C7A7B54}"/>
              </a:ext>
            </a:extLst>
          </p:cNvPr>
          <p:cNvSpPr txBox="1">
            <a:spLocks/>
          </p:cNvSpPr>
          <p:nvPr/>
        </p:nvSpPr>
        <p:spPr>
          <a:xfrm>
            <a:off x="888642" y="2623208"/>
            <a:ext cx="10414716" cy="2571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Devraj Sharma – Data Ingestion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Mohammed </a:t>
            </a:r>
            <a:r>
              <a:rPr lang="en-IN" sz="2500" cap="none" dirty="0" err="1">
                <a:latin typeface="+mn-lt"/>
              </a:rPr>
              <a:t>Habibulla</a:t>
            </a:r>
            <a:r>
              <a:rPr lang="en-IN" sz="2500" cap="none" dirty="0">
                <a:latin typeface="+mn-lt"/>
              </a:rPr>
              <a:t> – Feature Engineering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Ayush Babu – Baseline Model Training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Muddassir Ahmed – </a:t>
            </a:r>
            <a:r>
              <a:rPr lang="en-IN" sz="2500" cap="none" dirty="0" err="1">
                <a:latin typeface="+mn-lt"/>
              </a:rPr>
              <a:t>Mlflow</a:t>
            </a:r>
            <a:r>
              <a:rPr lang="en-IN" sz="2500" cap="none" dirty="0">
                <a:latin typeface="+mn-lt"/>
              </a:rPr>
              <a:t> + Model Validation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2500" cap="none" dirty="0">
                <a:latin typeface="+mn-lt"/>
              </a:rPr>
              <a:t>Ananya Jha – Airflow + Grafana </a:t>
            </a:r>
            <a:endParaRPr lang="en-US" sz="2500" cap="none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66167-4D33-799D-C198-061FD44AA6AC}"/>
              </a:ext>
            </a:extLst>
          </p:cNvPr>
          <p:cNvSpPr txBox="1">
            <a:spLocks/>
          </p:cNvSpPr>
          <p:nvPr/>
        </p:nvSpPr>
        <p:spPr>
          <a:xfrm>
            <a:off x="10321871" y="600011"/>
            <a:ext cx="981487" cy="260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1" cap="none" dirty="0">
                <a:latin typeface="+mn-lt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324903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47" y="3429000"/>
            <a:ext cx="4222117" cy="789146"/>
          </a:xfrm>
        </p:spPr>
        <p:txBody>
          <a:bodyPr/>
          <a:lstStyle/>
          <a:p>
            <a:r>
              <a:rPr lang="en-US" dirty="0"/>
              <a:t>Reference</a:t>
            </a:r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" y="333756"/>
            <a:ext cx="6226810" cy="6190488"/>
          </a:xfr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75BE2587-F49A-D1E6-4B58-D231E8455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48" y="4336763"/>
            <a:ext cx="4222117" cy="1816221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hlinkClick r:id="rId3"/>
              </a:rPr>
              <a:t>https://www.kaggle.com/datasets/rabieelkharoua/predicting-manufacturing-defects-dataset</a:t>
            </a:r>
            <a:endParaRPr lang="en-GB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hlinkClick r:id="rId4"/>
              </a:rPr>
              <a:t>https://docs.python.org/3/library/index.html</a:t>
            </a:r>
            <a:endParaRPr lang="en-GB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hlinkClick r:id="rId5"/>
              </a:rPr>
              <a:t>https://www.guvi.in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purl.org/dc/terms/"/>
    <ds:schemaRef ds:uri="16c05727-aa75-4e4a-9b5f-8a80a1165891"/>
    <ds:schemaRef ds:uri="http://purl.org/dc/dcmitype/"/>
    <ds:schemaRef ds:uri="http://schemas.microsoft.com/sharepoint/v3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{34AC18DD-2574-4EC4-B257-A99B538DAB26}f4c2fa09-5552-4190-875c-1979579583e2-TFc553d604-a3b6-4c52-b2ed-3a769335c0fd_win32</Template>
  <TotalTime>173</TotalTime>
  <Words>488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Lora</vt:lpstr>
      <vt:lpstr>Playfair Display Black</vt:lpstr>
      <vt:lpstr>Poppins Light</vt:lpstr>
      <vt:lpstr>Gradient Circle</vt:lpstr>
      <vt:lpstr>Manufacturing quality prediction</vt:lpstr>
      <vt:lpstr>Problem statement</vt:lpstr>
      <vt:lpstr>Dataset Description</vt:lpstr>
      <vt:lpstr>Quote</vt:lpstr>
      <vt:lpstr>Quote</vt:lpstr>
      <vt:lpstr>Quote</vt:lpstr>
      <vt:lpstr>Quote</vt:lpstr>
      <vt:lpstr>Baseline Model Accuracy</vt:lpstr>
      <vt:lpstr>Quote</vt:lpstr>
      <vt:lpstr>Quote</vt:lpstr>
      <vt:lpstr>Quote</vt:lpstr>
      <vt:lpstr>Quote</vt:lpstr>
      <vt:lpstr>Quote</vt:lpstr>
      <vt:lpstr>Quote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 Jha</dc:creator>
  <cp:lastModifiedBy>Anany Jha</cp:lastModifiedBy>
  <cp:revision>7</cp:revision>
  <dcterms:created xsi:type="dcterms:W3CDTF">2026-09-30T17:35:16Z</dcterms:created>
  <dcterms:modified xsi:type="dcterms:W3CDTF">2026-09-30T20:37:41Z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